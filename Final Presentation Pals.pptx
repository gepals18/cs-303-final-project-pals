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72" r:id="rId6"/>
    <p:sldId id="268" r:id="rId7"/>
    <p:sldId id="275" r:id="rId8"/>
    <p:sldId id="277" r:id="rId9"/>
    <p:sldId id="276" r:id="rId10"/>
    <p:sldId id="273" r:id="rId11"/>
    <p:sldId id="267" r:id="rId12"/>
    <p:sldId id="274" r:id="rId13"/>
    <p:sldId id="262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35F7F4-03ED-4AF1-B60B-C80AD9224AC7}" v="6" dt="2025-12-01T00:50:40.9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65" d="100"/>
          <a:sy n="65" d="100"/>
        </p:scale>
        <p:origin x="858" y="6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tchen Pals" userId="a75bafe3d95cb678" providerId="LiveId" clId="{1D260B6A-1CF8-4675-96B4-91FC52B26620}"/>
    <pc:docChg chg="custSel addSld delSld modSld sldOrd">
      <pc:chgData name="Gretchen Pals" userId="a75bafe3d95cb678" providerId="LiveId" clId="{1D260B6A-1CF8-4675-96B4-91FC52B26620}" dt="2025-12-01T00:53:24.795" v="70" actId="2711"/>
      <pc:docMkLst>
        <pc:docMk/>
      </pc:docMkLst>
      <pc:sldChg chg="modSp mod">
        <pc:chgData name="Gretchen Pals" userId="a75bafe3d95cb678" providerId="LiveId" clId="{1D260B6A-1CF8-4675-96B4-91FC52B26620}" dt="2025-12-01T00:52:49.283" v="68" actId="1076"/>
        <pc:sldMkLst>
          <pc:docMk/>
          <pc:sldMk cId="1332291891" sldId="257"/>
        </pc:sldMkLst>
        <pc:spChg chg="mod">
          <ac:chgData name="Gretchen Pals" userId="a75bafe3d95cb678" providerId="LiveId" clId="{1D260B6A-1CF8-4675-96B4-91FC52B26620}" dt="2025-12-01T00:52:49.283" v="68" actId="1076"/>
          <ac:spMkLst>
            <pc:docMk/>
            <pc:sldMk cId="1332291891" sldId="257"/>
            <ac:spMk id="2" creationId="{00000000-0000-0000-0000-000000000000}"/>
          </ac:spMkLst>
        </pc:spChg>
        <pc:spChg chg="mod">
          <ac:chgData name="Gretchen Pals" userId="a75bafe3d95cb678" providerId="LiveId" clId="{1D260B6A-1CF8-4675-96B4-91FC52B26620}" dt="2025-12-01T00:52:42.315" v="67" actId="1076"/>
          <ac:spMkLst>
            <pc:docMk/>
            <pc:sldMk cId="1332291891" sldId="257"/>
            <ac:spMk id="5" creationId="{00000000-0000-0000-0000-000000000000}"/>
          </ac:spMkLst>
        </pc:spChg>
      </pc:sldChg>
      <pc:sldChg chg="del">
        <pc:chgData name="Gretchen Pals" userId="a75bafe3d95cb678" providerId="LiveId" clId="{1D260B6A-1CF8-4675-96B4-91FC52B26620}" dt="2025-12-01T00:51:12.835" v="36" actId="2696"/>
        <pc:sldMkLst>
          <pc:docMk/>
          <pc:sldMk cId="2672039197" sldId="261"/>
        </pc:sldMkLst>
      </pc:sldChg>
      <pc:sldChg chg="modSp mod">
        <pc:chgData name="Gretchen Pals" userId="a75bafe3d95cb678" providerId="LiveId" clId="{1D260B6A-1CF8-4675-96B4-91FC52B26620}" dt="2025-12-01T00:53:24.795" v="70" actId="2711"/>
        <pc:sldMkLst>
          <pc:docMk/>
          <pc:sldMk cId="397710800" sldId="262"/>
        </pc:sldMkLst>
        <pc:spChg chg="mod">
          <ac:chgData name="Gretchen Pals" userId="a75bafe3d95cb678" providerId="LiveId" clId="{1D260B6A-1CF8-4675-96B4-91FC52B26620}" dt="2025-12-01T00:53:24.795" v="70" actId="2711"/>
          <ac:spMkLst>
            <pc:docMk/>
            <pc:sldMk cId="397710800" sldId="262"/>
            <ac:spMk id="3" creationId="{00000000-0000-0000-0000-000000000000}"/>
          </ac:spMkLst>
        </pc:spChg>
      </pc:sldChg>
      <pc:sldChg chg="del">
        <pc:chgData name="Gretchen Pals" userId="a75bafe3d95cb678" providerId="LiveId" clId="{1D260B6A-1CF8-4675-96B4-91FC52B26620}" dt="2025-12-01T00:51:15.098" v="37" actId="2696"/>
        <pc:sldMkLst>
          <pc:docMk/>
          <pc:sldMk cId="1405850135" sldId="263"/>
        </pc:sldMkLst>
      </pc:sldChg>
      <pc:sldChg chg="del">
        <pc:chgData name="Gretchen Pals" userId="a75bafe3d95cb678" providerId="LiveId" clId="{1D260B6A-1CF8-4675-96B4-91FC52B26620}" dt="2025-12-01T00:51:19.100" v="39" actId="2696"/>
        <pc:sldMkLst>
          <pc:docMk/>
          <pc:sldMk cId="3480339974" sldId="265"/>
        </pc:sldMkLst>
      </pc:sldChg>
      <pc:sldChg chg="del">
        <pc:chgData name="Gretchen Pals" userId="a75bafe3d95cb678" providerId="LiveId" clId="{1D260B6A-1CF8-4675-96B4-91FC52B26620}" dt="2025-12-01T00:51:16.963" v="38" actId="2696"/>
        <pc:sldMkLst>
          <pc:docMk/>
          <pc:sldMk cId="2319046984" sldId="271"/>
        </pc:sldMkLst>
      </pc:sldChg>
      <pc:sldChg chg="delSp modSp mod ord">
        <pc:chgData name="Gretchen Pals" userId="a75bafe3d95cb678" providerId="LiveId" clId="{1D260B6A-1CF8-4675-96B4-91FC52B26620}" dt="2025-12-01T00:48:00.993" v="24"/>
        <pc:sldMkLst>
          <pc:docMk/>
          <pc:sldMk cId="236880993" sldId="275"/>
        </pc:sldMkLst>
        <pc:spChg chg="mod">
          <ac:chgData name="Gretchen Pals" userId="a75bafe3d95cb678" providerId="LiveId" clId="{1D260B6A-1CF8-4675-96B4-91FC52B26620}" dt="2025-12-01T00:47:44.116" v="22"/>
          <ac:spMkLst>
            <pc:docMk/>
            <pc:sldMk cId="236880993" sldId="275"/>
            <ac:spMk id="3" creationId="{7D26E812-294E-744F-522B-15BE1810E13A}"/>
          </ac:spMkLst>
        </pc:spChg>
        <pc:spChg chg="mod">
          <ac:chgData name="Gretchen Pals" userId="a75bafe3d95cb678" providerId="LiveId" clId="{1D260B6A-1CF8-4675-96B4-91FC52B26620}" dt="2025-12-01T00:46:52.467" v="0" actId="20577"/>
          <ac:spMkLst>
            <pc:docMk/>
            <pc:sldMk cId="236880993" sldId="275"/>
            <ac:spMk id="7" creationId="{9B846287-E722-9CD5-C698-9BA051121EFE}"/>
          </ac:spMkLst>
        </pc:spChg>
        <pc:picChg chg="del">
          <ac:chgData name="Gretchen Pals" userId="a75bafe3d95cb678" providerId="LiveId" clId="{1D260B6A-1CF8-4675-96B4-91FC52B26620}" dt="2025-12-01T00:46:56.594" v="1" actId="21"/>
          <ac:picMkLst>
            <pc:docMk/>
            <pc:sldMk cId="236880993" sldId="275"/>
            <ac:picMk id="6" creationId="{D7A559FF-4D82-0778-E5DA-7DEF7B53090D}"/>
          </ac:picMkLst>
        </pc:picChg>
      </pc:sldChg>
      <pc:sldChg chg="modSp add mod">
        <pc:chgData name="Gretchen Pals" userId="a75bafe3d95cb678" providerId="LiveId" clId="{1D260B6A-1CF8-4675-96B4-91FC52B26620}" dt="2025-12-01T00:49:18.584" v="28"/>
        <pc:sldMkLst>
          <pc:docMk/>
          <pc:sldMk cId="1948325640" sldId="276"/>
        </pc:sldMkLst>
        <pc:spChg chg="mod">
          <ac:chgData name="Gretchen Pals" userId="a75bafe3d95cb678" providerId="LiveId" clId="{1D260B6A-1CF8-4675-96B4-91FC52B26620}" dt="2025-12-01T00:49:18.584" v="28"/>
          <ac:spMkLst>
            <pc:docMk/>
            <pc:sldMk cId="1948325640" sldId="276"/>
            <ac:spMk id="3" creationId="{6029BBFD-8A83-40EE-6AB8-3D486E277918}"/>
          </ac:spMkLst>
        </pc:spChg>
      </pc:sldChg>
      <pc:sldChg chg="modSp add mod">
        <pc:chgData name="Gretchen Pals" userId="a75bafe3d95cb678" providerId="LiveId" clId="{1D260B6A-1CF8-4675-96B4-91FC52B26620}" dt="2025-12-01T00:50:40.966" v="35"/>
        <pc:sldMkLst>
          <pc:docMk/>
          <pc:sldMk cId="44813798" sldId="277"/>
        </pc:sldMkLst>
        <pc:spChg chg="mod">
          <ac:chgData name="Gretchen Pals" userId="a75bafe3d95cb678" providerId="LiveId" clId="{1D260B6A-1CF8-4675-96B4-91FC52B26620}" dt="2025-12-01T00:50:40.966" v="35"/>
          <ac:spMkLst>
            <pc:docMk/>
            <pc:sldMk cId="44813798" sldId="277"/>
            <ac:spMk id="3" creationId="{B75C3A0E-B074-1EA2-AE4C-701ABF5CD6B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11/30/2025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11/30/2025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11/30/2025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11/30/2025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11/30/2025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11/30/2025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11/30/2025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11/30/2025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11/30/2025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11/30/2025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11/30/2025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11/30/2025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11/30/2025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11/30/2025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6748" y="1295400"/>
            <a:ext cx="8735325" cy="2000251"/>
          </a:xfrm>
        </p:spPr>
        <p:txBody>
          <a:bodyPr>
            <a:normAutofit fontScale="90000"/>
          </a:bodyPr>
          <a:lstStyle/>
          <a:p>
            <a:r>
              <a:rPr lang="en-US" dirty="0"/>
              <a:t>An Analysis of Machine Learning Techniques for Email Phishing Detection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726749" y="3429000"/>
            <a:ext cx="8735325" cy="1752600"/>
          </a:xfrm>
        </p:spPr>
        <p:txBody>
          <a:bodyPr/>
          <a:lstStyle/>
          <a:p>
            <a:r>
              <a:rPr lang="en-US" dirty="0"/>
              <a:t>GRETCHEN PALS, CS 303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1173A-02E0-AB3C-56C7-C07E8A16D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38A171F-56DB-6030-4F24-7E0C8F07F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Phishing Tactics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46F02A9-047C-DF4C-AF69-EFFAF49C5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Sense of urgency</a:t>
            </a:r>
          </a:p>
          <a:p>
            <a:pPr lvl="1"/>
            <a:r>
              <a:rPr lang="en-US" dirty="0"/>
              <a:t>“Act now”</a:t>
            </a:r>
          </a:p>
          <a:p>
            <a:pPr lvl="1"/>
            <a:r>
              <a:rPr lang="en-US" dirty="0"/>
              <a:t>“URGENT”</a:t>
            </a:r>
          </a:p>
          <a:p>
            <a:pPr lvl="1"/>
            <a:r>
              <a:rPr lang="en-US" dirty="0"/>
              <a:t>“Immediately”</a:t>
            </a:r>
          </a:p>
          <a:p>
            <a:r>
              <a:rPr lang="en-US" dirty="0"/>
              <a:t>Malware within links</a:t>
            </a:r>
          </a:p>
          <a:p>
            <a:r>
              <a:rPr lang="en-US" dirty="0"/>
              <a:t>Posing as trustworthy</a:t>
            </a:r>
          </a:p>
          <a:p>
            <a:pPr lvl="1"/>
            <a:r>
              <a:rPr lang="en-US" dirty="0"/>
              <a:t>Toll company</a:t>
            </a:r>
          </a:p>
          <a:p>
            <a:pPr lvl="1"/>
            <a:r>
              <a:rPr lang="en-US" dirty="0"/>
              <a:t>State representative</a:t>
            </a:r>
          </a:p>
          <a:p>
            <a:pPr lvl="1"/>
            <a:r>
              <a:rPr lang="en-US" dirty="0"/>
              <a:t>Government Agencies</a:t>
            </a:r>
          </a:p>
          <a:p>
            <a:r>
              <a:rPr lang="en-US" dirty="0"/>
              <a:t>Sense of familiarity</a:t>
            </a:r>
          </a:p>
          <a:p>
            <a:pPr lvl="1"/>
            <a:r>
              <a:rPr lang="en-US" dirty="0"/>
              <a:t>Coworker</a:t>
            </a:r>
          </a:p>
          <a:p>
            <a:pPr lvl="1"/>
            <a:r>
              <a:rPr lang="en-US" dirty="0"/>
              <a:t>Family member</a:t>
            </a:r>
          </a:p>
        </p:txBody>
      </p:sp>
    </p:spTree>
    <p:extLst>
      <p:ext uri="{BB962C8B-B14F-4D97-AF65-F5344CB8AC3E}">
        <p14:creationId xmlns:p14="http://schemas.microsoft.com/office/powerpoint/2010/main" val="1624869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 Phishing Detection</a:t>
            </a:r>
          </a:p>
          <a:p>
            <a:pPr lvl="1"/>
            <a:r>
              <a:rPr lang="en-US" dirty="0"/>
              <a:t>Pandas</a:t>
            </a:r>
          </a:p>
          <a:p>
            <a:pPr lvl="2"/>
            <a:r>
              <a:rPr lang="en-US" dirty="0"/>
              <a:t>Python library</a:t>
            </a:r>
          </a:p>
          <a:p>
            <a:pPr lvl="2"/>
            <a:r>
              <a:rPr lang="en-US" dirty="0"/>
              <a:t>Good for data organization and analysis</a:t>
            </a:r>
          </a:p>
          <a:p>
            <a:pPr lvl="1"/>
            <a:r>
              <a:rPr lang="en-US" dirty="0"/>
              <a:t>Scikit-Learn</a:t>
            </a:r>
          </a:p>
          <a:p>
            <a:pPr lvl="2"/>
            <a:r>
              <a:rPr lang="en-US" dirty="0"/>
              <a:t>Python library</a:t>
            </a:r>
          </a:p>
          <a:p>
            <a:pPr lvl="2"/>
            <a:r>
              <a:rPr lang="en-US" dirty="0"/>
              <a:t>Machine Learning algorithms</a:t>
            </a:r>
          </a:p>
          <a:p>
            <a:pPr lvl="1"/>
            <a:r>
              <a:rPr lang="en-US" dirty="0"/>
              <a:t>Vectorization</a:t>
            </a:r>
          </a:p>
          <a:p>
            <a:pPr lvl="2"/>
            <a:r>
              <a:rPr lang="en-US" dirty="0"/>
              <a:t>Through scikit-learn</a:t>
            </a:r>
          </a:p>
          <a:p>
            <a:pPr lvl="2"/>
            <a:r>
              <a:rPr lang="en-US" dirty="0"/>
              <a:t>Turning emails into numbers for analysis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15193-90CE-FF88-73F4-5AE2E2F6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B846287-E722-9CD5-C698-9BA051121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692" y="304800"/>
            <a:ext cx="10360501" cy="1223963"/>
          </a:xfrm>
        </p:spPr>
        <p:txBody>
          <a:bodyPr/>
          <a:lstStyle/>
          <a:p>
            <a:r>
              <a:rPr lang="en-US" dirty="0"/>
              <a:t>Email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6E812-294E-744F-522B-15BE1810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Subject: Immediate Attention Required – N3tfl1x Security</a:t>
            </a:r>
          </a:p>
          <a:p>
            <a:r>
              <a:rPr lang="en-US" dirty="0"/>
              <a:t>Message: Dear Lily, your N3tfl1x account has been compromised. Click the link to reset your password immediately. Suspicious streaming locations have been identified, and urgent verification is required.</a:t>
            </a:r>
          </a:p>
        </p:txBody>
      </p:sp>
    </p:spTree>
    <p:extLst>
      <p:ext uri="{BB962C8B-B14F-4D97-AF65-F5344CB8AC3E}">
        <p14:creationId xmlns:p14="http://schemas.microsoft.com/office/powerpoint/2010/main" val="236880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3DABF-BCDA-97FE-9247-67D4B1169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74276CA-506A-21D5-F040-8E4489B48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692" y="304800"/>
            <a:ext cx="10360501" cy="1223963"/>
          </a:xfrm>
        </p:spPr>
        <p:txBody>
          <a:bodyPr/>
          <a:lstStyle/>
          <a:p>
            <a:r>
              <a:rPr lang="en-US" dirty="0"/>
              <a:t>Email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C3A0E-B074-1EA2-AE4C-701ABF5CD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Subject: Template for Grant Application</a:t>
            </a:r>
          </a:p>
          <a:p>
            <a:r>
              <a:rPr lang="en-US" dirty="0"/>
              <a:t>Message: Hi Naomi, attached is the template for the grant application. Feel free to edit where needed and reach out if you need help completing any section.</a:t>
            </a:r>
          </a:p>
        </p:txBody>
      </p:sp>
    </p:spTree>
    <p:extLst>
      <p:ext uri="{BB962C8B-B14F-4D97-AF65-F5344CB8AC3E}">
        <p14:creationId xmlns:p14="http://schemas.microsoft.com/office/powerpoint/2010/main" val="44813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3B03-841B-41C4-E3AB-156B16C8F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3C3AE38-1A6C-4C30-AE91-D9FE9148C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692" y="304800"/>
            <a:ext cx="10360501" cy="1223963"/>
          </a:xfrm>
        </p:spPr>
        <p:txBody>
          <a:bodyPr/>
          <a:lstStyle/>
          <a:p>
            <a:r>
              <a:rPr lang="en-US" dirty="0"/>
              <a:t>Email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9BBFD-8A83-40EE-6AB8-3D486E277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Subject: Annual Fair Prize Distribution</a:t>
            </a:r>
          </a:p>
          <a:p>
            <a:r>
              <a:rPr lang="en-US" dirty="0"/>
              <a:t>Message: Your entry was selected for a $850 fair-event reward card. Time-sensitive verification is required. Click to confirm your prize before reassignment.</a:t>
            </a:r>
          </a:p>
        </p:txBody>
      </p:sp>
    </p:spTree>
    <p:extLst>
      <p:ext uri="{BB962C8B-B14F-4D97-AF65-F5344CB8AC3E}">
        <p14:creationId xmlns:p14="http://schemas.microsoft.com/office/powerpoint/2010/main" val="1948325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77944-6272-3C15-C93E-2C3C23ED3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93BE5FF-BA14-88B9-8F52-B903B8314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train_classifier.py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DD26270-A8CA-0401-D97A-5C0A86BCEF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9012" y="439617"/>
            <a:ext cx="7004515" cy="614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4166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065212" y="304800"/>
            <a:ext cx="10360501" cy="1223963"/>
          </a:xfrm>
        </p:spPr>
        <p:txBody>
          <a:bodyPr/>
          <a:lstStyle/>
          <a:p>
            <a:r>
              <a:rPr lang="en-US" dirty="0"/>
              <a:t>predict_spam.py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9FBDF0-B0DC-4B74-472F-5D5C6065F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0412" y="793443"/>
            <a:ext cx="7399265" cy="527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FC1C7-B7AC-C8C3-F5F2-572D2D9B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4661B4-1534-5EB7-969B-6499DB9E2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12" y="304800"/>
            <a:ext cx="10360501" cy="1223963"/>
          </a:xfrm>
        </p:spPr>
        <p:txBody>
          <a:bodyPr/>
          <a:lstStyle/>
          <a:p>
            <a:r>
              <a:rPr lang="en-US" dirty="0"/>
              <a:t>Sample of output excel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0A169-C4F1-5D6F-8803-7DC29CBCB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170CBA-215D-C160-D4BC-22FA415A5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12" y="1828800"/>
            <a:ext cx="8359839" cy="446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45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161" y="2817018"/>
            <a:ext cx="10360501" cy="122396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  <a:latin typeface="+mn-lt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38</TotalTime>
  <Words>220</Words>
  <Application>Microsoft Office PowerPoint</Application>
  <PresentationFormat>Custom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Tech 16x9</vt:lpstr>
      <vt:lpstr>An Analysis of Machine Learning Techniques for Email Phishing Detection</vt:lpstr>
      <vt:lpstr>Common Phishing Tactics</vt:lpstr>
      <vt:lpstr>Project Overview</vt:lpstr>
      <vt:lpstr>Email Example </vt:lpstr>
      <vt:lpstr>Email Example </vt:lpstr>
      <vt:lpstr>Email Example </vt:lpstr>
      <vt:lpstr>train_classifier.py</vt:lpstr>
      <vt:lpstr>predict_spam.py</vt:lpstr>
      <vt:lpstr>Sample of output excel file</vt:lpstr>
      <vt:lpstr>Thank you!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Gretchen Pals</dc:creator>
  <cp:lastModifiedBy>Gretchen Pals</cp:lastModifiedBy>
  <cp:revision>1</cp:revision>
  <dcterms:created xsi:type="dcterms:W3CDTF">2025-12-01T00:15:30Z</dcterms:created>
  <dcterms:modified xsi:type="dcterms:W3CDTF">2025-12-01T00:53:31Z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